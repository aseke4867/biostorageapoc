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 q" userId="119e59418752b933" providerId="LiveId" clId="{901C6388-DC03-458C-8BB2-C2734D609010}"/>
    <pc:docChg chg="undo custSel modSld">
      <pc:chgData name="q q" userId="119e59418752b933" providerId="LiveId" clId="{901C6388-DC03-458C-8BB2-C2734D609010}" dt="2026-10-01T13:00:06.364" v="37" actId="478"/>
      <pc:docMkLst>
        <pc:docMk/>
      </pc:docMkLst>
      <pc:sldChg chg="delSp modSp mod">
        <pc:chgData name="q q" userId="119e59418752b933" providerId="LiveId" clId="{901C6388-DC03-458C-8BB2-C2734D609010}" dt="2026-10-01T12:59:41.351" v="25" actId="478"/>
        <pc:sldMkLst>
          <pc:docMk/>
          <pc:sldMk cId="0" sldId="257"/>
        </pc:sldMkLst>
        <pc:spChg chg="del mod">
          <ac:chgData name="q q" userId="119e59418752b933" providerId="LiveId" clId="{901C6388-DC03-458C-8BB2-C2734D609010}" dt="2026-10-01T12:59:41.351" v="25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0.968" v="6" actId="1076"/>
          <ac:spMkLst>
            <pc:docMk/>
            <pc:sldMk cId="0" sldId="257"/>
            <ac:spMk id="8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3.177" v="26" actId="478"/>
        <pc:sldMkLst>
          <pc:docMk/>
          <pc:sldMk cId="0" sldId="258"/>
        </pc:sldMkLst>
        <pc:spChg chg="del mod">
          <ac:chgData name="q q" userId="119e59418752b933" providerId="LiveId" clId="{901C6388-DC03-458C-8BB2-C2734D609010}" dt="2026-10-01T12:59:43.177" v="26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44.954" v="27" actId="478"/>
        <pc:sldMkLst>
          <pc:docMk/>
          <pc:sldMk cId="0" sldId="259"/>
        </pc:sldMkLst>
        <pc:spChg chg="del mod">
          <ac:chgData name="q q" userId="119e59418752b933" providerId="LiveId" clId="{901C6388-DC03-458C-8BB2-C2734D609010}" dt="2026-10-01T12:59:44.954" v="27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47.056" v="28" actId="478"/>
        <pc:sldMkLst>
          <pc:docMk/>
          <pc:sldMk cId="0" sldId="260"/>
        </pc:sldMkLst>
        <pc:spChg chg="del">
          <ac:chgData name="q q" userId="119e59418752b933" providerId="LiveId" clId="{901C6388-DC03-458C-8BB2-C2734D609010}" dt="2026-10-01T12:59:47.056" v="28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0.192" v="29" actId="478"/>
        <pc:sldMkLst>
          <pc:docMk/>
          <pc:sldMk cId="0" sldId="261"/>
        </pc:sldMkLst>
        <pc:spChg chg="del">
          <ac:chgData name="q q" userId="119e59418752b933" providerId="LiveId" clId="{901C6388-DC03-458C-8BB2-C2734D609010}" dt="2026-10-01T12:59:50.192" v="29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2:59:37.556" v="24" actId="478"/>
        <pc:sldMkLst>
          <pc:docMk/>
          <pc:sldMk cId="0" sldId="262"/>
        </pc:sldMkLst>
        <pc:spChg chg="del mod">
          <ac:chgData name="q q" userId="119e59418752b933" providerId="LiveId" clId="{901C6388-DC03-458C-8BB2-C2734D609010}" dt="2026-10-01T12:59:37.556" v="24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8:51.490" v="7" actId="1076"/>
          <ac:spMkLst>
            <pc:docMk/>
            <pc:sldMk cId="0" sldId="262"/>
            <ac:spMk id="8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3.203" v="30" actId="478"/>
        <pc:sldMkLst>
          <pc:docMk/>
          <pc:sldMk cId="0" sldId="263"/>
        </pc:sldMkLst>
        <pc:spChg chg="del">
          <ac:chgData name="q q" userId="119e59418752b933" providerId="LiveId" clId="{901C6388-DC03-458C-8BB2-C2734D609010}" dt="2026-10-01T12:59:53.203" v="30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5.289" v="31" actId="478"/>
        <pc:sldMkLst>
          <pc:docMk/>
          <pc:sldMk cId="0" sldId="264"/>
        </pc:sldMkLst>
        <pc:spChg chg="del">
          <ac:chgData name="q q" userId="119e59418752b933" providerId="LiveId" clId="{901C6388-DC03-458C-8BB2-C2734D609010}" dt="2026-10-01T12:59:55.289" v="31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6.891" v="32" actId="478"/>
        <pc:sldMkLst>
          <pc:docMk/>
          <pc:sldMk cId="0" sldId="265"/>
        </pc:sldMkLst>
        <pc:spChg chg="del">
          <ac:chgData name="q q" userId="119e59418752b933" providerId="LiveId" clId="{901C6388-DC03-458C-8BB2-C2734D609010}" dt="2026-10-01T12:59:56.891" v="32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2:59:58.684" v="33" actId="478"/>
        <pc:sldMkLst>
          <pc:docMk/>
          <pc:sldMk cId="0" sldId="266"/>
        </pc:sldMkLst>
        <pc:spChg chg="del">
          <ac:chgData name="q q" userId="119e59418752b933" providerId="LiveId" clId="{901C6388-DC03-458C-8BB2-C2734D609010}" dt="2026-10-01T12:59:58.684" v="33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0.545" v="34" actId="478"/>
        <pc:sldMkLst>
          <pc:docMk/>
          <pc:sldMk cId="0" sldId="267"/>
        </pc:sldMkLst>
        <pc:spChg chg="del">
          <ac:chgData name="q q" userId="119e59418752b933" providerId="LiveId" clId="{901C6388-DC03-458C-8BB2-C2734D609010}" dt="2026-10-01T13:00:00.545" v="34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2.739" v="35" actId="478"/>
        <pc:sldMkLst>
          <pc:docMk/>
          <pc:sldMk cId="0" sldId="268"/>
        </pc:sldMkLst>
        <pc:spChg chg="del">
          <ac:chgData name="q q" userId="119e59418752b933" providerId="LiveId" clId="{901C6388-DC03-458C-8BB2-C2734D609010}" dt="2026-10-01T13:00:02.739" v="35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q q" userId="119e59418752b933" providerId="LiveId" clId="{901C6388-DC03-458C-8BB2-C2734D609010}" dt="2026-10-01T13:00:04.679" v="36" actId="478"/>
        <pc:sldMkLst>
          <pc:docMk/>
          <pc:sldMk cId="0" sldId="269"/>
        </pc:sldMkLst>
        <pc:spChg chg="del">
          <ac:chgData name="q q" userId="119e59418752b933" providerId="LiveId" clId="{901C6388-DC03-458C-8BB2-C2734D609010}" dt="2026-10-01T13:00:04.679" v="36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Sp mod">
        <pc:chgData name="q q" userId="119e59418752b933" providerId="LiveId" clId="{901C6388-DC03-458C-8BB2-C2734D609010}" dt="2026-10-01T13:00:06.364" v="37" actId="478"/>
        <pc:sldMkLst>
          <pc:docMk/>
          <pc:sldMk cId="0" sldId="270"/>
        </pc:sldMkLst>
        <pc:spChg chg="del mod">
          <ac:chgData name="q q" userId="119e59418752b933" providerId="LiveId" clId="{901C6388-DC03-458C-8BB2-C2734D609010}" dt="2026-10-01T13:00:06.364" v="37" actId="478"/>
          <ac:spMkLst>
            <pc:docMk/>
            <pc:sldMk cId="0" sldId="270"/>
            <ac:spMk id="6" creationId="{00000000-0000-0000-0000-000000000000}"/>
          </ac:spMkLst>
        </pc:spChg>
        <pc:spChg chg="mod">
          <ac:chgData name="q q" userId="119e59418752b933" providerId="LiveId" clId="{901C6388-DC03-458C-8BB2-C2734D609010}" dt="2026-10-01T12:59:34.878" v="17" actId="1076"/>
          <ac:spMkLst>
            <pc:docMk/>
            <pc:sldMk cId="0" sldId="270"/>
            <ac:spMk id="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Archive size, bits per sequenced base (lower is better; every codec verified lossless)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Illumina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4.13</c:v>
                </c:pt>
                <c:pt idx="1">
                  <c:v>3.94</c:v>
                </c:pt>
                <c:pt idx="2">
                  <c:v>3.29</c:v>
                </c:pt>
                <c:pt idx="3">
                  <c:v>2.84</c:v>
                </c:pt>
                <c:pt idx="4">
                  <c:v>4.3600000000000003</c:v>
                </c:pt>
                <c:pt idx="5">
                  <c:v>2.82</c:v>
                </c:pt>
                <c:pt idx="6">
                  <c:v>1.67</c:v>
                </c:pt>
                <c:pt idx="7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3F-4246-9FC7-ADA2A5FB14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Nanopore</c:v>
                </c:pt>
              </c:strCache>
            </c:strRef>
          </c:tx>
          <c:spPr>
            <a:solidFill>
              <a:srgbClr val="E8000D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gzip -6</c:v>
                </c:pt>
                <c:pt idx="1">
                  <c:v>pigz -9</c:v>
                </c:pt>
                <c:pt idx="2">
                  <c:v>bzip2 -9</c:v>
                </c:pt>
                <c:pt idx="3">
                  <c:v>xz -6</c:v>
                </c:pt>
                <c:pt idx="4">
                  <c:v>zstd -3</c:v>
                </c:pt>
                <c:pt idx="5">
                  <c:v>zstd -19</c:v>
                </c:pt>
                <c:pt idx="6">
                  <c:v>zstd -19 long</c:v>
                </c:pt>
                <c:pt idx="7">
                  <c:v>Spring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7.8</c:v>
                </c:pt>
                <c:pt idx="1">
                  <c:v>7.74</c:v>
                </c:pt>
                <c:pt idx="2">
                  <c:v>6.59</c:v>
                </c:pt>
                <c:pt idx="3">
                  <c:v>6.19</c:v>
                </c:pt>
                <c:pt idx="4">
                  <c:v>7.86</c:v>
                </c:pt>
                <c:pt idx="5">
                  <c:v>6.32</c:v>
                </c:pt>
                <c:pt idx="6">
                  <c:v>5.25</c:v>
                </c:pt>
                <c:pt idx="7">
                  <c:v>5.03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3F-4246-9FC7-ADA2A5FB14C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ru-KZ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11111"/>
                </a:solidFill>
                <a:latin typeface="Arial"/>
              </a:rPr>
              <a:t>5-year saving vs S3 Standard, 75 TB of E. coli studies (2018–21)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saving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11111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Age rule: hot 2 yr, then Deep Archive</c:v>
                </c:pt>
                <c:pt idx="1">
                  <c:v>All Glacier Instant Retrieval</c:v>
                </c:pt>
                <c:pt idx="2">
                  <c:v>Model: Deep Archive if p&lt;0.61</c:v>
                </c:pt>
                <c:pt idx="3">
                  <c:v>Oracle (knows the future)</c:v>
                </c:pt>
                <c:pt idx="4">
                  <c:v>All Deep Archive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57.3</c:v>
                </c:pt>
                <c:pt idx="1">
                  <c:v>81.5</c:v>
                </c:pt>
                <c:pt idx="2">
                  <c:v>83.5</c:v>
                </c:pt>
                <c:pt idx="3">
                  <c:v>91.8</c:v>
                </c:pt>
                <c:pt idx="4">
                  <c:v>95.6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D3-4E85-9C50-F1A55090F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9525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Arial"/>
              </a:defRPr>
            </a:pPr>
            <a:endParaRPr lang="ru-KZ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61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 Asulkhan. Представиться, назвать тему. Одна фраза-крючок: по сегодняшним ценам хранить новые данные секвенирования 10 лет уже стоит примерно столько же, сколько их получить. Дальше покажем, откуда эта цифра и что её сдвигает.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Начинаем с результата. Мы сравниваем две цены одного мегабазного объёма: сколько стоит его отсеквенировать и сколько стоит хранить 10 лет. Для SRA в её нынешнем формате, с тремя копиями INSDC и по прайсу облака, хранение уже стоит примерно как секвенирование — медиана пересечения 2023 год. Все измеренные нами меры вместе сдвигают дату к 2035. Но сильнее всего дату двигает то, как быстро будет дешеветь само секвенирование: если темп 2015–2022 сохранится, при всех мерах пересечения не будет до 2060.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Как устроена модель. Слева — стоимость секвенирования мегабазы по данным NHGRI. Есть два честных прочтения тренда: весь период NGS (минус 37% в год) и последние годы после плато NovaSeq (минус 20% в год). Справа — стоимость хранения: сколько байт занимает одно основание, умножить на число копий и на сумму цены за 120 месяцев. Цена стартует с сегодняшних 2,3 цента за ГБ в месяц у AWS и падает со скоростью дешевения дисков — минус 12,6% в год. Пересечение — первый год, когда хранение не дешевле секвенирования. Мы считаем на мегабазу, потому что прогноз объёма архива ненадёжен — это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1: что хранится на каждом этапе. Все числа на графике мы измерили сами (части B): сырой сигнал Nanopore — 11,5 байта на основание, FASTQ.gz — полбайта, формат SRA — 0,34, CRAM — 0,09. Для 30x генома человека это от терабайта сигнала до 8 ГБ CRAM. Невосполним только образец. Риды нужно хранить — с них начинается любой новый анализ. Всё, что после ридов, пересчитывается. Сигнал стоит хранить только пока он может улучшить риды.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2. Данные — собственная статистика NCBI по SRA и release notes GenBank. Рост SRA замедляется: в 2009–2012 архив рос в 4–5 раз за год, сейчас в 1,2 раза; годовой приток почти постоянный, 12–15 петабаз. Мы подогнали три формы: экспоненту, линейную и логистическую, и проверили каждую на отложенных последних 5 годах. Каждая где-то ошиблась в 2–6 раз, а прогнозы на 2045 расходятся в 7000 раз. Поэтому объём архива мы не прогнозируем, а считаем пересечение на одну мегабазу. Квадратичную форму отбросили: она разворачивается вниз, то есть предсказывает уменьшение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Задача 3. Таблица 15 приборов из спецификаций производителей: мощность Illumina выросла в 24 тысячи раз с 2006 по 2023, удвоение каждые 1,2 года. PromethION по объёму уже обгоняет NovaSeq 6000, но с другой моделью ошибок. По ENA 90–96% публичных запусков — Illumina, длинные риды растут. Если разделить годовой приток SRA на мощность одного флагмана, получится всего 5–12 приборов, работающих круглый год. Значит, в публичный архив попадает малая доля мировых данных — клинические и коммерческие данные туда не идут.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Asulkhan. Главный график. Слева — отношение стоимости хранения к стоимости секвенирования мегабазы; выше единицы хранить дороже. Справа — год пересечения с 90%-интервалом для каждого способа хранения. Внизу — как каждая мера сдвигает медиану: Spring — до 2027, огрубление quality — 2029, тиринг — 2035. Чёрные отрезки — оба тренда вместе; оранжевые — если вернётся темп 2008–2022; зелёные — если сохранится темп 2015–2022, тогда при всех мерах пересечения нет до 2060. Дальше Ravil покажет, откуда эти меры и сколько они реально 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Переход к части B. Прежде чем что-то сжимать, мы проверили сами архивы — и нашли четыре проблемы, о которых метаданные молчат. ENA отдаёт наш прогон Illumina с quality, заменёнными на Q30 (это SRA Lite). Метаданные называют прибор HiSeq 4000, а по ID проточной ячейки это NovaSeq. ENA молча обрезала выгрузку метаданных. Прогон Nanopore предварительно отфильтрован, и у части баз невозможное Q90. Всё это нашлось только потому, что пайплайн сверяет данные с их описанием.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Задачи 4 и 5, сжатие. Один и тот же несжатый FASTQ, 8 кодеков, каждый результат распакован и сверен по MD5, бенчмарки шли без других задач на машине. На коротких ридах Spring сжимает в 25,7 раза против 5 у gzip: он переставляет риды так, чтобы перекрывающиеся шли рядом. Nanopore сжимается всего в 3 раза: 78% сжатого файла — это quality, у которых около 40 разных значений. Отсюда вопрос — нужны ли эти quality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Огрубление quality и его цена. Пять версий одних и тех же ридов: исходные 4 уровня, схема Illumina на 8 уровней, 4, 2 уровня и вообще без quality. Варианты вызывали на глубинах 5, 15, 30x и полной. Эталон получен без ридов: выровняли два готовых генома, K-12 и REL606, и получили 25 952 SNP. Результат: от 15x и выше F1 по SNP меняется не больше чем на 0,001 — для гаплоидной бактерии quality почти бесполезны. Эффект виден только на 5x, и то в калибровке QUAL. Для Nanopore 4 уровня quality уменьшают архив в 2,7 раза без потерь в SNP. Ограничение: диплоидные гетерозиготы и соматика здесь не проверялись.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5. Риды Nanopore из того же биообразца. Профили ошибок мы измерили сами по выравниваниям: у Illumina почти только замены, у Nanopore 65% ошибок — инделы, особенно в гомополимерах. Зато по SNP Nanopore не хуже Illumina: полнота выше, потому что длинные риды проходят повторы, точность чуть ниже. Сырой сигнал в 12–15 раз больше ридов и почти не сжимается. Но повторный бейсколлинг того же сигнала моделью sup на нашей видеокарте убрал 58% ошибок. Вывод: сигнал держать в глубоком архиве до выхода следующей модели, потом удалять — кроме эталонных и клинических образцов.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6: можно ли искать в сжатом архиве. Один прогон хранили в семи формах и задавали одни и те же вопросы. CRAM — самый компактный формат, 0,73 бита на основание, меньше даже Spring, потому что хранит только отличия от референса. И он же самый быстрый: риды гена за 15 мс, в 360 раз быстрее, чем перебор сжатого FASTQ — потому что у CRAM есть индекс по координатам, а у FASTQ нет. Spring компактен, но чтобы что-то найти, надо распаковать всё — 15 секунд. BLAST быстрый, но его база больше всех и без quality. Цена CRAM — референс становится частью архива.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Задача 7, тиринг. Повторное использование мерили по статьям, упоминающим проект: Europe PMC, 11 497 запросов, 5 748 проектов E. coli. Модель по метаданным на момент загрузки, обучение до 2017, тест 2018–2021: ROC-AUC 0,75. Главный вывод неожиданный: просто перенести всё из S3 Standard в мгновенный архив Glacier Instant Retrieval — это 81,5% экономии без задержек. Модель добавляет ещё 2 пункта, но 17% запросов ждут восстановления. Правило «два года горячее» — худший вариант: экономит 57% и задерживает 73%, потому что данные возвращаются поздно. Оракул показывает потолок — нужны настоящие логи скачиваний.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Ravil. Воспроизводимость. 17 публичных источников, у каждого MD5 и запись о происхождении. Один Snakemake-пайплайн, около 180 задач, у каждой замер времени и памяти. На выходе 40 таблиц и 11 графиков, из которых взято каждое число в отчёте. make test прогоняет весь проект на маленьком срезе реальных данных за 3,5 минуты без сети и GPU — можно показать вживую. Окружение зафиксировано. Масштаб: 607 тысяч записей метаданных качаются по годам с проверкой числа строк, кэш запросов возобновляемый.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Оба. Ravil зачитывает выводы 1–4, Asulkhan — итог и ограничения. Итог: для сегодняшней SRA по прайсу облака пересечение фактически уже наступило; все измеренные меры вместе дают около десяти лет — до 2035; если секвенирование будет дешеветь медленно, пересечения нет до 2060. Ограничения честно: один организм, только гаплоидные SNP, повторное использование через цитирования, прайс-цены и данные NHGRI до 2022.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AITU · INTRODUCTION TO BIOINFORMATICS · PROJECT 09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7772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Storage</a:t>
            </a:r>
            <a:endParaRPr lang="en-US" sz="66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Apocalypse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731520" y="3977640"/>
            <a:ext cx="69494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60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does keeping sequence data cost more than producing it — and how much time can compression and tiering buy?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394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Asulkhan · Ravil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REAL PUBLIC DATA · SNAKEMAKE ·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503920" y="2011680"/>
            <a:ext cx="3017520" cy="3017520"/>
          </a:xfrm>
          <a:prstGeom prst="ellipse">
            <a:avLst/>
          </a:prstGeom>
          <a:ln w="25400">
            <a:solidFill>
              <a:srgbClr val="E8000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the curves cross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01 — HEADLINE RESULT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a new megabase for 10 years now costs about as much as sequencing 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Crossover today (median).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format 0.34 B/base, 3 INSDC copies, S3 list price. 90% range 2022–2036.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83024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383024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levers we measured: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+ 2-level qualities + reuse-based tiering.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34528" y="1965960"/>
            <a:ext cx="3240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7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&gt;2060</a:t>
            </a:r>
            <a:endParaRPr lang="en-US" sz="7200" dirty="0"/>
          </a:p>
        </p:txBody>
      </p:sp>
      <p:sp>
        <p:nvSpPr>
          <p:cNvPr id="14" name="Text 12"/>
          <p:cNvSpPr txBox="1"/>
          <p:nvPr/>
        </p:nvSpPr>
        <p:spPr>
          <a:xfrm>
            <a:off x="8034528" y="3291840"/>
            <a:ext cx="3240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sequencing keeps its 2015–22 pace (−20%/yr) — the single biggest uncertainty.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PROBABILITY OF CROSSING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166360"/>
            <a:ext cx="342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2030: 0.77   ·   by 2045: 0.99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3024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METHOD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383024" y="5166360"/>
            <a:ext cx="3240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Monte Carlo draws over two sequencing trends + bootstrap of both price fits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34528" y="4892040"/>
            <a:ext cx="3422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BIGGEST LEVERS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034528" y="5166360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sequencing-price trend ≫ compression &gt; tiering &gt; number of copies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— THE QUESTION AS A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prices of the same megabase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4335780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874520"/>
            <a:ext cx="3970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SEQUENCING  /  Mb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194560"/>
            <a:ext cx="3970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NHGRI cost per raw Mb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−37%/yr (2008–22)  or  −20%/yr (2015–22)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08776" y="1783080"/>
            <a:ext cx="5248656" cy="11430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1656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STORAGE 10 YEARS  /  Mb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194560"/>
            <a:ext cx="4882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bytes/base × copies × Σ price per GB-month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at S3 $0.023, falls −12.6%/yr (disk prices)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95900" y="2057400"/>
            <a:ext cx="6842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pic>
        <p:nvPicPr>
          <p:cNvPr id="16" name="Image 0" descr="C:\Users\ravse\OneDrive\Рабочий стол\BioStorageApoc\results\figures\fig_a3_p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108960"/>
            <a:ext cx="8138160" cy="29454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— TASK 1 · WHAT AN EXPERIMENT STORES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stage is smaller and more replaceable — except the sample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6161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per sequenced base, measured (log scale)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9940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364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9841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3265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97428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1668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0" y="2468880"/>
            <a:ext cx="2445526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19078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with qualities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0" y="2978331"/>
            <a:ext cx="1368423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1975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0.516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archive format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0" y="3487783"/>
            <a:ext cx="1228732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02284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0" y="3997234"/>
            <a:ext cx="11345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081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0.263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(lossless)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0" y="4506686"/>
            <a:ext cx="79900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72561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0" y="5016137"/>
            <a:ext cx="77007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43627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Spring, no qualities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0" y="5525589"/>
            <a:ext cx="444491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8043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0.036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04532" y="182880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IRREPLACEABLE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304532" y="210312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biological sample: an outbreak isolate, a biopsy, a wild population exists once.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304532" y="288036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KEEP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304532" y="315468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every future question (new reference, new caller, new pathogen) starts here.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304532" y="393192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RECOMPUTABLE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304532" y="420624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Alignments, variants, assemblies — from reads + software.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304532" y="4983480"/>
            <a:ext cx="4152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KEEP FOR A WHILE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304532" y="5257800"/>
            <a:ext cx="415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Signal: 12–15× the reads, worth it only until the next basecaller.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— TASK 2 · ARCHIVE GROWTH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growth is slowing — and no model predicts it well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1_archiv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1937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Pbases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in Feb 2024 (31 PB on disk)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49834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 → 1.2×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7150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growth per year: 2009–12 vs 2022–23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498348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7,000×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71500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of 2045 forecasts across exponential, linear, logistic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 — TASK 3 · PLATFORMS AND THROUGHPUT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capacity doubles every 1.2 years; the archive sees a fraction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2_instruments_plat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37360"/>
            <a:ext cx="9418320" cy="34248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24,000×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 output per instrument-day, 2006 → 2023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90–96%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public runs are Illumina since 2016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instruments' yearly output = the whole SRA intake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 — TASK 8 · HEADLINE PROJECTION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curves cross depends on how we store — and on sequencing prices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a4_cross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424160" cy="36257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SRA TODAY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SPRING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+ 2-LEVEL QUALITIES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208776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947404" y="544068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+ TIERING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947404" y="5669280"/>
            <a:ext cx="23271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 — DATABASES · WHAT THE ARCHIVES DON'T SAY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archives store less than they appear to — silently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ENA's FASTQ for SRR25629153 has every quality = Q30. Real values survive only in NCBI's SRA Normalized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08776" y="178308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443216" y="201168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instrument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4688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says HiSeq 4000; flow-cell ID HWFV2DRXY and 4-level qualities say NovaSeq.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truncation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ENA bulk request returned 383k of 608k runs with no error. Fixed: per-year chunks checked against /count.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08776" y="3931920"/>
            <a:ext cx="5111496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7376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7443216" y="416052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Undocumented filtering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461772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MinION run: no read &lt; 5 kb (pre-filtered); 2.8% of bases carry an impossible Q90.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 — TASK 4/5 · COMPRESSION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FASTQ-aware compressor beats gzip 5× on short reads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7074408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25.7×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on Illumina FASTQ (0.80 bits/base); gzip 5.0×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/ 78%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compressed bytes are qualities (Illumina / Nanopore)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3.2×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on Nanopore: ~40 quality levels barely compress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 — TASK 4 · NGS · QUALITY BINNING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Throwing qualities away barely changes SNP calls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C:\Users\ravse\OneDrive\Рабочий стол\BioStorageApoc\results\figures\fig_b3_binning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37360"/>
            <a:ext cx="10085832" cy="320898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ΔF1 ≤ 0.001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SNP F1 at ≥15× for every binning scheme, including no qualities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83024" y="50749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25,952 SNPs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383024" y="58064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 set from two finished genomes (K-12 vs REL606), not from reads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34528" y="507492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2.7× smaller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034528" y="5806440"/>
            <a:ext cx="3422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Nanopore archive with 4-level qualities, same SNP F1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 — TASK 5 · TGS · LONG READS AND RAW SIGNAL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reads fail differently; their raw signal is worth re-reading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6161533" cy="3328416"/>
        </p:xfrm>
        <a:graphic>
          <a:graphicData uri="http://schemas.openxmlformats.org/drawingml/2006/table">
            <a:tbl>
              <a:tblPr/>
              <a:tblGrid>
                <a:gridCol w="2834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SAME K-12 SAMPLE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ILLUMINA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Space Mono" pitchFamily="34" charset="0"/>
                          <a:ea typeface="Space Mono" pitchFamily="34" charset="-122"/>
                          <a:cs typeface="Space Mono" pitchFamily="34" charset="-120"/>
                        </a:rPr>
                        <a:t>NANOPORE</a:t>
                      </a:r>
                      <a:endParaRPr lang="en-US" sz="900" dirty="0">
                        <a:latin typeface="Space Mono" charset="0"/>
                        <a:ea typeface="Space Mono" charset="0"/>
                        <a:cs typeface="Space Mono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to 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Mismatches / 100 bases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Indels as share of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F1 vs truth (full depth)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SNP recall / precision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99.04% / 99.08%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99.60% / 98.52%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Indel F1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73736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12–15×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468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signal (POD5) vs the reads, per base — already at its compression limit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395972" y="324612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−58%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97764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when the same signal is re-basecalled with a better model (hac → sup)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75488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5486400"/>
            <a:ext cx="40614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GPU time for sup (308 s vs 57 s per 20,000 reads)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 — TASK 6 · ALIGNMENT AS AN INDEX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smallest format is also the fastest to search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707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find all reads of one gene (lacZ), log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4842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9082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49285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3525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 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73727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7967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8169" y="2395728"/>
            <a:ext cx="0" cy="356616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32409" y="21214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2468880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BAM (2.10 b/base)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468880"/>
            <a:ext cx="641541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5093" y="2468880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2978331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3.1 (0.73)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2978331"/>
            <a:ext cx="969619" cy="305671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43171" y="2978331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487783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db (7.28)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00400" y="3487783"/>
            <a:ext cx="1789255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62807" y="3487783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997234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 archive (0.70)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0" y="3997234"/>
            <a:ext cx="208705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60610" y="3997234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 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506686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FASTQ.zst (2.82)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200400" y="4506686"/>
            <a:ext cx="3063630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37182" y="4506686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31520" y="5016137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FASTQ.gz (4.13)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5016137"/>
            <a:ext cx="3068418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41970" y="5016137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5589"/>
            <a:ext cx="237744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(0.80)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200400" y="5525589"/>
            <a:ext cx="3452369" cy="305671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25921" y="5525589"/>
            <a:ext cx="1188720" cy="305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217408" y="173736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360×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8217408" y="2468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faster: CRAM region query vs scanning compressed FASTQ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17408" y="324612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ms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8217408" y="397764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1 kb region from CRAM (5 ms from BAM)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217408" y="475488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1.00</a:t>
            </a:r>
            <a:endParaRPr lang="en-US" sz="2800" dirty="0"/>
          </a:p>
        </p:txBody>
      </p:sp>
      <p:sp>
        <p:nvSpPr>
          <p:cNvPr id="46" name="Text 44"/>
          <p:cNvSpPr txBox="1"/>
          <p:nvPr/>
        </p:nvSpPr>
        <p:spPr>
          <a:xfrm>
            <a:off x="8217408" y="5486400"/>
            <a:ext cx="3240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answer is exact; k-mer scan 0.98, BLAST 0.97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 — TASK 7 · TIERING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instant storage beats clever prediction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1737360"/>
          <a:ext cx="6161532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395972" y="18288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DELAYED REUSE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95972" y="21031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 · 0% · 17% · 0% · 100%  (same order)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95972" y="32004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REUSE LABEL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395972" y="34747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papers within 4 years — 11,497 Europe PMC queries, 5,748 studies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95972" y="4572000"/>
            <a:ext cx="406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MODEL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395972" y="4846320"/>
            <a:ext cx="40614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0.75 on held-out years (random 0.49); trained ≤2017, tested 2018–21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 — ENGINEERING AND REPRODUCIBILITY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from public archives to every number in the report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sources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MD5 + provenance per file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1508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470148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3028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3653028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Snakemake jobs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53028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time + memory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0136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08776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1656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391656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+ 40 result tables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98764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947404" y="1828800"/>
            <a:ext cx="2189988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0284" y="1920240"/>
            <a:ext cx="182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130284" y="2651760"/>
            <a:ext cx="1824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30284" y="2999232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traceable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0233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470148" y="40233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steps in 3.5 min on ~16 MB of real data slices — no network, no GPU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7091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make repro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470148" y="47091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run from raw downloads; pinned conda environment + lock file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394960"/>
            <a:ext cx="2510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at scale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470148" y="5394960"/>
            <a:ext cx="7987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607k-run metadata in verified yearly chunks → Parquet; resumable API cache; reservoir sampling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000D"/>
          </a:solidFill>
          <a:ln w="12700">
            <a:solidFill>
              <a:srgbClr val="E800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 — CONCLUSION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58368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crossover is close; the levers buy about a decade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72768"/>
            <a:ext cx="10725912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BIOSTORAGEAPOC · AITU · PROJECT 09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0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4444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783080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Archives hide losses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148840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 Lite qualities, wrong instrument, silent truncation — found only by checking.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07208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bytes buy little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72968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Qualities: 34–78% of an archive, ΔF1 ≤ 0.001. Signal: 12–15× the reads.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31336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can be fast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97096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CRAM: smallest and quickest to query. Spring: small, no random access.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00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855464"/>
            <a:ext cx="5612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storage first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221224"/>
            <a:ext cx="56128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archive −81.5%; prediction adds 2 points at 17% delays.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95972" y="1783080"/>
            <a:ext cx="406146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4572" y="1965960"/>
            <a:ext cx="36042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000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LIMITATIONS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624572" y="2286000"/>
            <a:ext cx="36042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organism, one run per platform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SNPs only — no diploid or somatic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proxied by citations (no download logs)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prices; NHGRI series ends 2022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capacities are maxima, not yields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2900</Words>
  <Application>Microsoft Office PowerPoint</Application>
  <PresentationFormat>Широкоэкранный</PresentationFormat>
  <Paragraphs>286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Space Mono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Storage Apocalypse</dc:title>
  <dc:subject>PptxGenJS Presentation</dc:subject>
  <dc:creator>PptxGenJS</dc:creator>
  <cp:lastModifiedBy>q q</cp:lastModifiedBy>
  <cp:revision>1</cp:revision>
  <dcterms:created xsi:type="dcterms:W3CDTF">2026-10-01T12:55:55Z</dcterms:created>
  <dcterms:modified xsi:type="dcterms:W3CDTF">2026-10-01T13:00:07Z</dcterms:modified>
</cp:coreProperties>
</file>