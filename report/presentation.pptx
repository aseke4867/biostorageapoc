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2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11111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11111"/>
                </a:solidFill>
                <a:latin typeface="Arial"/>
              </a:rPr>
              <a:t>Archive size, bits per sequenced base (lower is better; every codec verified lossless)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Illumina</c:v>
                </c:pt>
              </c:strCache>
            </c:strRef>
          </c:tx>
          <c:spPr>
            <a:solidFill>
              <a:srgbClr val="111111"/>
            </a:solidFill>
            <a:effectLst/>
          </c:spPr>
          <c:invertIfNegative val="0"/>
          <c:dLbls>
            <c:numFmt formatCode="0.0#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1111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gzip -6</c:v>
                  </c:pt>
                  <c:pt idx="1">
                    <c:v>pigz -9</c:v>
                  </c:pt>
                  <c:pt idx="2">
                    <c:v>bzip2 -9</c:v>
                  </c:pt>
                  <c:pt idx="3">
                    <c:v>xz -6</c:v>
                  </c:pt>
                  <c:pt idx="4">
                    <c:v>zstd -3</c:v>
                  </c:pt>
                  <c:pt idx="5">
                    <c:v>zstd -19</c:v>
                  </c:pt>
                  <c:pt idx="6">
                    <c:v>zstd -19 long</c:v>
                  </c:pt>
                  <c:pt idx="7">
                    <c:v>Spring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4.13</c:v>
                </c:pt>
                <c:pt idx="1">
                  <c:v>3.94</c:v>
                </c:pt>
                <c:pt idx="2">
                  <c:v>3.29</c:v>
                </c:pt>
                <c:pt idx="3">
                  <c:v>2.84</c:v>
                </c:pt>
                <c:pt idx="4">
                  <c:v>4.36</c:v>
                </c:pt>
                <c:pt idx="5">
                  <c:v>2.82</c:v>
                </c:pt>
                <c:pt idx="6">
                  <c:v>1.67</c:v>
                </c:pt>
                <c:pt idx="7">
                  <c:v>0.8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Nanopore</c:v>
                </c:pt>
              </c:strCache>
            </c:strRef>
          </c:tx>
          <c:spPr>
            <a:solidFill>
              <a:srgbClr val="E8000D"/>
            </a:solidFill>
            <a:effectLst/>
          </c:spPr>
          <c:invertIfNegative val="0"/>
          <c:dLbls>
            <c:numFmt formatCode="0.0#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1111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gzip -6</c:v>
                  </c:pt>
                  <c:pt idx="1">
                    <c:v>pigz -9</c:v>
                  </c:pt>
                  <c:pt idx="2">
                    <c:v>bzip2 -9</c:v>
                  </c:pt>
                  <c:pt idx="3">
                    <c:v>xz -6</c:v>
                  </c:pt>
                  <c:pt idx="4">
                    <c:v>zstd -3</c:v>
                  </c:pt>
                  <c:pt idx="5">
                    <c:v>zstd -19</c:v>
                  </c:pt>
                  <c:pt idx="6">
                    <c:v>zstd -19 long</c:v>
                  </c:pt>
                  <c:pt idx="7">
                    <c:v>Spring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7.8</c:v>
                </c:pt>
                <c:pt idx="1">
                  <c:v>7.74</c:v>
                </c:pt>
                <c:pt idx="2">
                  <c:v>6.59</c:v>
                </c:pt>
                <c:pt idx="3">
                  <c:v>6.19</c:v>
                </c:pt>
                <c:pt idx="4">
                  <c:v>7.86</c:v>
                </c:pt>
                <c:pt idx="5">
                  <c:v>6.32</c:v>
                </c:pt>
                <c:pt idx="6">
                  <c:v>5.25</c:v>
                </c:pt>
                <c:pt idx="7">
                  <c:v>5.03</c:v>
                </c:pt>
              </c:numCache>
            </c:numRef>
          </c:val>
        </c:ser>
        <c:dLbls>
          <c:numFmt formatCode="0.0#" sourceLinked="0"/>
          <c:txPr>
            <a:bodyPr/>
            <a:lstStyle/>
            <a:p>
              <a:pPr>
                <a:defRPr b="0" i="0" strike="noStrike" sz="800" u="none">
                  <a:solidFill>
                    <a:srgbClr val="11111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9525" cap="flat">
              <a:solidFill>
                <a:srgbClr val="EEEE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11111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11111"/>
                </a:solidFill>
                <a:latin typeface="Arial"/>
              </a:rPr>
              <a:t>5-year saving vs S3 Standard, 75 TB of E. coli studies (2018–21)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saving</c:v>
                </c:pt>
              </c:strCache>
            </c:strRef>
          </c:tx>
          <c:spPr>
            <a:solidFill>
              <a:srgbClr val="111111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1111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Age rule: hot 2 yr, then Deep Archive</c:v>
                  </c:pt>
                  <c:pt idx="1">
                    <c:v>All Glacier Instant Retrieval</c:v>
                  </c:pt>
                  <c:pt idx="2">
                    <c:v>Model: Deep Archive if p&lt;0.61</c:v>
                  </c:pt>
                  <c:pt idx="3">
                    <c:v>Oracle (knows the future)</c:v>
                  </c:pt>
                  <c:pt idx="4">
                    <c:v>All Deep Archive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57.3</c:v>
                </c:pt>
                <c:pt idx="1">
                  <c:v>81.5</c:v>
                </c:pt>
                <c:pt idx="2">
                  <c:v>83.5</c:v>
                </c:pt>
                <c:pt idx="3">
                  <c:v>91.8</c:v>
                </c:pt>
                <c:pt idx="4">
                  <c:v>95.6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11111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b"/>
        <c:majorGridlines>
          <c:spPr>
            <a:ln w="9525" cap="flat">
              <a:solidFill>
                <a:srgbClr val="EEEE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Говорит Aseke. Представиться, назвать тему. Одна фраза-крючок: по сегодняшним ценам хранить новые данные секвенирования 10 лет уже стоит примерно столько же, сколько их получить. Дальше покажем, откуда эта цифра и что её сдвигает.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Aseke. Начинаем с результата. Мы сравниваем две цены одного мегабазного объёма: сколько стоит его отсеквенировать и сколько стоит хранить 10 лет. Для SRA в её нынешнем формате, с тремя копиями INSDC и по прайсу облака, хранение уже стоит примерно как секвенирование — медиана пересечения 2023 год. Все измеренные нами меры вместе сдвигают дату к 2035. Но сильнее всего дату двигает то, как быстро будет дешеветь само секвенирование: если темп 2015–2022 сохранится, при всех мерах пересечения не будет до 2060.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Aseke. Как устроена модель. Слева — стоимость секвенирования мегабазы по данным NHGRI. Есть два честных прочтения тренда: весь период NGS (минус 37% в год) и последние годы после плато NovaSeq (минус 20% в год). Справа — стоимость хранения: сколько байт занимает одно основание, умножить на число копий и на сумму цены за 120 месяцев. Цена стартует с сегодняшних 2,3 цента за ГБ в месяц у AWS и падает со скоростью дешевения дисков — минус 12,6% в год. Пересечение — первый год, когда хранение не дешевле секвенирования. Мы считаем на мегабазу, потому что прогноз объёма архива ненадёжен — это следующий слайд.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Aseke. Задача 1: что хранится на каждом этапе. Все числа на графике мы измерили сами (части B): сырой сигнал Nanopore — 11,5 байта на основание, FASTQ.gz — полбайта, формат SRA — 0,34, CRAM — 0,09. Для 30x генома человека это от терабайта сигнала до 8 ГБ CRAM. Невосполним только образец. Риды нужно хранить — с них начинается любой новый анализ. Всё, что после ридов, пересчитывается. Сигнал стоит хранить только пока он может улучшить риды.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Aseke. Задача 2. Данные — собственная статистика NCBI по SRA и release notes GenBank. Рост SRA замедляется: в 2009–2012 архив рос в 4–5 раз за год, сейчас в 1,2 раза; годовой приток почти постоянный, 12–15 петабаз. Мы подогнали три формы: экспоненту, линейную и логистическую, и проверили каждую на отложенных последних 5 годах. Каждая где-то ошиблась в 2–6 раз, а прогнозы на 2045 расходятся в 7000 раз. Поэтому объём архива мы не прогнозируем, а считаем пересечение на одну мегабазу. Квадратичную форму отбросили: она разворачивается вниз, то есть предсказывает уменьшение архива.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Aseke. Задача 3. Таблица 15 приборов из спецификаций производителей: мощность Illumina выросла в 24 тысячи раз с 2006 по 2023, удвоение каждые 1,2 года. PromethION по объёму уже обгоняет NovaSeq 6000, но с другой моделью ошибок. По ENA 90–96% публичных запусков — Illumina, длинные риды растут. Если разделить годовой приток SRA на мощность одного флагмана, получится всего 5–12 приборов, работающих круглый год. Значит, в публичный архив попадает малая доля мировых данных — клинические и коммерческие данные туда не идут.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Aseke. Главный график. Слева — отношение стоимости хранения к стоимости секвенирования мегабазы; выше единицы хранить дороже. Справа — год пересечения с 90%-интервалом для каждого способа хранения. Внизу — как каждая мера сдвигает медиану: Spring — до 2027, огрубление quality — 2029, тиринг — 2035. Чёрные отрезки — оба тренда вместе; оранжевые — если вернётся темп 2008–2022; зелёные — если сохранится темп 2015–2022, тогда при всех мерах пересечения нет до 2060. Дальше Ravil покажет, откуда эти меры и сколько они реально стоят.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Ravil. Переход к части B. Прежде чем что-то сжимать, мы проверили сами архивы — и нашли четыре проблемы, о которых метаданные молчат. ENA отдаёт наш прогон Illumina с quality, заменёнными на Q30 (это SRA Lite). Метаданные называют прибор HiSeq 4000, а по ID проточной ячейки это NovaSeq. ENA молча обрезала выгрузку метаданных. Прогон Nanopore предварительно отфильтрован, и у части баз невозможное Q90. Всё это нашлось только потому, что пайплайн сверяет данные с их описанием.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Ravil. Задачи 4 и 5, сжатие. Один и тот же несжатый FASTQ, 8 кодеков, каждый результат распакован и сверен по MD5, бенчмарки шли без других задач на машине. На коротких ридах Spring сжимает в 25,7 раза против 5 у gzip: он переставляет риды так, чтобы перекрывающиеся шли рядом. Nanopore сжимается всего в 3 раза: 78% сжатого файла — это quality, у которых около 40 разных значений. Отсюда вопрос — нужны ли эти quality вообще.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Ravil. Огрубление quality и его цена. Пять версий одних и тех же ридов: исходные 4 уровня, схема Illumina на 8 уровней, 4, 2 уровня и вообще без quality. Варианты вызывали на глубинах 5, 15, 30x и полной. Эталон получен без ридов: выровняли два готовых генома, K-12 и REL606, и получили 25 952 SNP. Результат: от 15x и выше F1 по SNP меняется не больше чем на 0,001 — для гаплоидной бактерии quality почти бесполезны. Эффект виден только на 5x, и то в калибровке QUAL. Для Nanopore 4 уровня quality уменьшают архив в 2,7 раза без потерь в SNP. Ограничение: диплоидные гетерозиготы и соматика здесь не проверялись.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Ravil. Задача 5. Риды Nanopore из того же биообразца. Профили ошибок мы измерили сами по выравниваниям: у Illumina почти только замены, у Nanopore 65% ошибок — инделы, особенно в гомополимерах. Зато по SNP Nanopore не хуже Illumina: полнота выше, потому что длинные риды проходят повторы, точность чуть ниже. Сырой сигнал в 12–15 раз больше ридов и почти не сжимается. Но повторный бейсколлинг того же сигнала моделью sup на нашей видеокарте убрал 58% ошибок. Вывод: сигнал держать в глубоком архиве до выхода следующей модели, потом удалять — кроме эталонных и клинических образцов.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Ravil. Задача 6: можно ли искать в сжатом архиве. Один прогон хранили в семи формах и задавали одни и те же вопросы. CRAM — самый компактный формат, 0,73 бита на основание, меньше даже Spring, потому что хранит только отличия от референса. И он же самый быстрый: риды гена за 15 мс, в 360 раз быстрее, чем перебор сжатого FASTQ — потому что у CRAM есть индекс по координатам, а у FASTQ нет. Spring компактен, но чтобы что-то найти, надо распаковать всё — 15 секунд. BLAST быстрый, но его база больше всех и без quality. Цена CRAM — референс становится частью архива.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Ravil. Задача 7, тиринг. Повторное использование мерили по статьям, упоминающим проект: Europe PMC, 11 497 запросов, 5 748 проектов E. coli. Модель по метаданным на момент загрузки, обучение до 2017, тест 2018–2021: ROC-AUC 0,75. Главный вывод неожиданный: просто перенести всё из S3 Standard в мгновенный архив Glacier Instant Retrieval — это 81,5% экономии без задержек. Модель добавляет ещё 2 пункта, но 17% запросов ждут восстановления. Правило «два года горячее» — худший вариант: экономит 57% и задерживает 73%, потому что данные возвращаются поздно. Оракул показывает потолок — нужны настоящие логи скачиваний.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Ravil. Воспроизводимость. 17 публичных источников, у каждого MD5 и запись о происхождении. Один Snakemake-пайплайн, около 180 задач, у каждой замер времени и памяти. На выходе 40 таблиц и 11 графиков, из которых взято каждое число в отчёте. make test прогоняет весь проект на маленьком срезе реальных данных за 3,5 минуты без сети и GPU — можно показать вживую. Окружение зафиксировано. Масштаб: 607 тысяч записей метаданных качаются по годам с проверкой числа строк, кэш запросов возобновляемый.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Оба. Ravil зачитывает выводы 1–4, Aseke — итог и ограничения. Итог: для сегодняшней SRA по прайсу облака пересечение фактически уже наступило; все измеренные меры вместе дают около десяти лет — до 2035; если секвенирование будет дешеветь медленно, пересечения нет до 2060. Ограничения честно: один организм, только гаплоидные SNP, повторное использование через цитирования, прайс-цены и данные NHGRI до 2022. Спасибо, готовы ответить на вопросы.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000D"/>
          </a:solidFill>
          <a:ln w="12700">
            <a:solidFill>
              <a:srgbClr val="E8000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822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E8000D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AITU · INTRODUCTION TO BIOINFORMATICS · PROJECT 09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325880"/>
            <a:ext cx="7772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6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Storage</a:t>
            </a:r>
            <a:endParaRPr lang="en-US" sz="66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6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Apocalypse</a:t>
            </a:r>
            <a:endParaRPr lang="en-US" sz="6600" dirty="0"/>
          </a:p>
        </p:txBody>
      </p:sp>
      <p:sp>
        <p:nvSpPr>
          <p:cNvPr id="5" name="Shape 3"/>
          <p:cNvSpPr/>
          <p:nvPr/>
        </p:nvSpPr>
        <p:spPr>
          <a:xfrm>
            <a:off x="731520" y="3977640"/>
            <a:ext cx="694944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416052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does keeping sequence data cost more than producing it — and how much time can compression and tiering buy?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5394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Aseke · Ravil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5760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444444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REAL PUBLIC DATA · SNAKEMAKE · 2026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503920" y="2011680"/>
            <a:ext cx="3017520" cy="3017520"/>
          </a:xfrm>
          <a:prstGeom prst="ellipse">
            <a:avLst/>
          </a:prstGeom>
          <a:ln w="25400">
            <a:solidFill>
              <a:srgbClr val="E8000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503920" y="292608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800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</a:t>
            </a:r>
            <a:endParaRPr lang="en-US" sz="4400" dirty="0"/>
          </a:p>
        </p:txBody>
      </p:sp>
      <p:sp>
        <p:nvSpPr>
          <p:cNvPr id="11" name="Text 9"/>
          <p:cNvSpPr txBox="1"/>
          <p:nvPr/>
        </p:nvSpPr>
        <p:spPr>
          <a:xfrm>
            <a:off x="8503920" y="37033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444444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the curves cross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000D"/>
          </a:solidFill>
          <a:ln w="12700">
            <a:solidFill>
              <a:srgbClr val="E8000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E8000D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01 — HEADLINE RESULT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658368"/>
            <a:ext cx="107259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Storing a new megabase for 10 years now costs about as much as sequencing it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31520" y="1572768"/>
            <a:ext cx="1072591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356848" y="6236208"/>
            <a:ext cx="384048" cy="384048"/>
          </a:xfrm>
          <a:prstGeom prst="ellipse">
            <a:avLst/>
          </a:prstGeom>
          <a:ln w="19050">
            <a:solidFill>
              <a:srgbClr val="E8000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63550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444444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BIOSTORAGEAPOC · AITU · PROJECT 09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10424160" y="63550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02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1965960"/>
            <a:ext cx="32400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7200" b="1" dirty="0">
                <a:solidFill>
                  <a:srgbClr val="E800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</a:t>
            </a:r>
            <a:endParaRPr lang="en-US" sz="72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3291840"/>
            <a:ext cx="32400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Crossover today (median).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SRA format 0.34 B/base, 3 INSDC copies, S3 list price. 90% range 2022–2036.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383024" y="1965960"/>
            <a:ext cx="32400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7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2035</a:t>
            </a:r>
            <a:endParaRPr lang="en-US" sz="7200" dirty="0"/>
          </a:p>
        </p:txBody>
      </p:sp>
      <p:sp>
        <p:nvSpPr>
          <p:cNvPr id="12" name="Text 10"/>
          <p:cNvSpPr txBox="1"/>
          <p:nvPr/>
        </p:nvSpPr>
        <p:spPr>
          <a:xfrm>
            <a:off x="4383024" y="3291840"/>
            <a:ext cx="32400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the levers we measured: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 + 2-level qualities + reuse-based tiering.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034528" y="1965960"/>
            <a:ext cx="32400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7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&gt;2060</a:t>
            </a:r>
            <a:endParaRPr lang="en-US" sz="7200" dirty="0"/>
          </a:p>
        </p:txBody>
      </p:sp>
      <p:sp>
        <p:nvSpPr>
          <p:cNvPr id="14" name="Text 12"/>
          <p:cNvSpPr txBox="1"/>
          <p:nvPr/>
        </p:nvSpPr>
        <p:spPr>
          <a:xfrm>
            <a:off x="8034528" y="3291840"/>
            <a:ext cx="32400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sequencing keeps its 2015–22 pace (−20%/yr) — the single biggest uncertainty.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31520" y="4709160"/>
            <a:ext cx="1072591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4892040"/>
            <a:ext cx="3422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444444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PROBABILITY OF CROSSING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5166360"/>
            <a:ext cx="3422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2030: 0.77   ·   by 2045: 0.99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383024" y="4892040"/>
            <a:ext cx="3422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444444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METHOD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4383024" y="5166360"/>
            <a:ext cx="3240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2,000 Monte Carlo draws over two sequencing trends + bootstrap of both price fits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8034528" y="4892040"/>
            <a:ext cx="3422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444444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BIGGEST LEVERS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8034528" y="5166360"/>
            <a:ext cx="34229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sequencing-price trend ≫ compression &gt; tiering &gt; number of copies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000D"/>
          </a:solidFill>
          <a:ln w="12700">
            <a:solidFill>
              <a:srgbClr val="E8000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E8000D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02 — THE QUESTION AS A MODEL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658368"/>
            <a:ext cx="107259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prices of the same megabase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31520" y="1572768"/>
            <a:ext cx="1072591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356848" y="6236208"/>
            <a:ext cx="384048" cy="384048"/>
          </a:xfrm>
          <a:prstGeom prst="ellipse">
            <a:avLst/>
          </a:prstGeom>
          <a:ln w="19050">
            <a:solidFill>
              <a:srgbClr val="E8000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63550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444444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BIOSTORAGEAPOC · AITU · PROJECT 09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10424160" y="63550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31520" y="1783080"/>
            <a:ext cx="4335780" cy="1143000"/>
          </a:xfrm>
          <a:prstGeom prst="rect">
            <a:avLst/>
          </a:prstGeom>
          <a:solidFill>
            <a:srgbClr val="F4F4F4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1874520"/>
            <a:ext cx="39700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E8000D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SEQUENCING  /  Mb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2194560"/>
            <a:ext cx="39700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NHGRI cost per raw Mb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−37%/yr (2008–22)  or  −20%/yr (2015–22)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08776" y="1783080"/>
            <a:ext cx="5248656" cy="1143000"/>
          </a:xfrm>
          <a:prstGeom prst="rect">
            <a:avLst/>
          </a:prstGeom>
          <a:solidFill>
            <a:srgbClr val="F4F4F4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91656" y="1874520"/>
            <a:ext cx="4882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E8000D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STORAGE 10 YEARS  /  Mb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391656" y="2194560"/>
            <a:ext cx="48828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bytes/base × copies × Σ price per GB-month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starts at S3 $0.023, falls −12.6%/yr (disk prices)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295900" y="2057400"/>
            <a:ext cx="6842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00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2200" dirty="0"/>
          </a:p>
        </p:txBody>
      </p:sp>
      <p:pic>
        <p:nvPicPr>
          <p:cNvPr id="16" name="Image 0" descr="C:\Users\ravse\OneDrive\Рабочий стол\BioStorageApoc\results\figures\fig_a3_pric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57400" y="3108960"/>
            <a:ext cx="8138160" cy="294540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000D"/>
          </a:solidFill>
          <a:ln w="12700">
            <a:solidFill>
              <a:srgbClr val="E8000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E8000D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03 — TASK 1 · WHAT AN EXPERIMENT STORES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658368"/>
            <a:ext cx="107259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stage is smaller and more replaceable — except the sample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31520" y="1572768"/>
            <a:ext cx="1072591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356848" y="6236208"/>
            <a:ext cx="384048" cy="384048"/>
          </a:xfrm>
          <a:prstGeom prst="ellipse">
            <a:avLst/>
          </a:prstGeom>
          <a:ln w="19050">
            <a:solidFill>
              <a:srgbClr val="E8000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63550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444444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BIOSTORAGEAPOC · AITU · PROJECT 09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10424160" y="63550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04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1783080"/>
            <a:ext cx="61615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Bytes per sequenced base, measured (log scale)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0" y="2395728"/>
            <a:ext cx="0" cy="356616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834640" y="212140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0.01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999409" y="2395728"/>
            <a:ext cx="0" cy="356616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633649" y="212140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98418" y="2395728"/>
            <a:ext cx="0" cy="356616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432658" y="212140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597428" y="2395728"/>
            <a:ext cx="0" cy="356616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231668" y="212140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2468880"/>
            <a:ext cx="2377440" cy="3056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signal (POD5)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00400" y="2468880"/>
            <a:ext cx="2445526" cy="305671"/>
          </a:xfrm>
          <a:prstGeom prst="rect">
            <a:avLst/>
          </a:prstGeom>
          <a:solidFill>
            <a:srgbClr val="E8000D"/>
          </a:solidFill>
          <a:ln w="12700">
            <a:solidFill>
              <a:srgbClr val="E8000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719078" y="2468880"/>
            <a:ext cx="1188720" cy="3056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00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11.5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731520" y="2978331"/>
            <a:ext cx="2377440" cy="3056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FASTQ.gz with qualities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200400" y="2978331"/>
            <a:ext cx="1368423" cy="305671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641975" y="2978331"/>
            <a:ext cx="1188720" cy="3056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0.516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31520" y="3487783"/>
            <a:ext cx="2377440" cy="3056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SRA archive format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200400" y="3487783"/>
            <a:ext cx="1228732" cy="305671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502284" y="3487783"/>
            <a:ext cx="1188720" cy="3056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0.345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31520" y="3997234"/>
            <a:ext cx="2377440" cy="3056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BAM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200400" y="3997234"/>
            <a:ext cx="1134558" cy="305671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408110" y="3997234"/>
            <a:ext cx="1188720" cy="3056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0.263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31520" y="4506686"/>
            <a:ext cx="2377440" cy="3056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 (lossless)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200400" y="4506686"/>
            <a:ext cx="799009" cy="305671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072561" y="4506686"/>
            <a:ext cx="1188720" cy="3056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731520" y="5016137"/>
            <a:ext cx="2377440" cy="3056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CRAM 3.1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200400" y="5016137"/>
            <a:ext cx="770075" cy="305671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043627" y="5016137"/>
            <a:ext cx="1188720" cy="3056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0.092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731520" y="5525589"/>
            <a:ext cx="2377440" cy="3056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Spring, no qualities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3200400" y="5525589"/>
            <a:ext cx="444491" cy="305671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3718043" y="5525589"/>
            <a:ext cx="1188720" cy="3056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0.036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7304532" y="1828800"/>
            <a:ext cx="41529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E8000D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IRREPLACEABLE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7304532" y="2103120"/>
            <a:ext cx="41529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biological sample: an outbreak isolate, a biopsy, a wild population exists once.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7304532" y="2880360"/>
            <a:ext cx="41529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444444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MUST KEEP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7304532" y="3154680"/>
            <a:ext cx="41529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Reads — every future question (new reference, new caller, new pathogen) starts here.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7304532" y="3931920"/>
            <a:ext cx="41529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444444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RECOMPUTABLE</a:t>
            </a:r>
            <a:endParaRPr lang="en-US" sz="900" dirty="0"/>
          </a:p>
        </p:txBody>
      </p:sp>
      <p:sp>
        <p:nvSpPr>
          <p:cNvPr id="44" name="Text 42"/>
          <p:cNvSpPr txBox="1"/>
          <p:nvPr/>
        </p:nvSpPr>
        <p:spPr>
          <a:xfrm>
            <a:off x="7304532" y="4206240"/>
            <a:ext cx="41529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Alignments, variants, assemblies — from reads + software.</a:t>
            </a:r>
            <a:endParaRPr lang="en-US" sz="1300" dirty="0"/>
          </a:p>
        </p:txBody>
      </p:sp>
      <p:sp>
        <p:nvSpPr>
          <p:cNvPr id="45" name="Text 43"/>
          <p:cNvSpPr txBox="1"/>
          <p:nvPr/>
        </p:nvSpPr>
        <p:spPr>
          <a:xfrm>
            <a:off x="7304532" y="4983480"/>
            <a:ext cx="41529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444444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KEEP FOR A WHILE</a:t>
            </a:r>
            <a:endParaRPr lang="en-US" sz="900" dirty="0"/>
          </a:p>
        </p:txBody>
      </p:sp>
      <p:sp>
        <p:nvSpPr>
          <p:cNvPr id="46" name="Text 44"/>
          <p:cNvSpPr txBox="1"/>
          <p:nvPr/>
        </p:nvSpPr>
        <p:spPr>
          <a:xfrm>
            <a:off x="7304532" y="5257800"/>
            <a:ext cx="41529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Signal: 12–15× the reads, worth it only until the next basecaller.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000D"/>
          </a:solidFill>
          <a:ln w="12700">
            <a:solidFill>
              <a:srgbClr val="E8000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E8000D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04 — TASK 2 · ARCHIVE GROWTH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658368"/>
            <a:ext cx="107259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Archive growth is slowing — and no model predicts it well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31520" y="1572768"/>
            <a:ext cx="1072591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356848" y="6236208"/>
            <a:ext cx="384048" cy="384048"/>
          </a:xfrm>
          <a:prstGeom prst="ellipse">
            <a:avLst/>
          </a:prstGeom>
          <a:ln w="19050">
            <a:solidFill>
              <a:srgbClr val="E8000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63550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444444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BIOSTORAGEAPOC · AITU · PROJECT 09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10424160" y="63550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05</a:t>
            </a:r>
            <a:endParaRPr lang="en-US" sz="900" dirty="0"/>
          </a:p>
        </p:txBody>
      </p:sp>
      <p:pic>
        <p:nvPicPr>
          <p:cNvPr id="9" name="Image 0" descr="C:\Users\ravse\OneDrive\Рабочий стол\BioStorageApoc\results\figures\fig_a1_archive_growt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737360"/>
            <a:ext cx="10085832" cy="319374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731520" y="4983480"/>
            <a:ext cx="32400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 Pbases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5715000"/>
            <a:ext cx="32400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SRA in Feb 2024 (31 PB on disk)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4383024" y="4983480"/>
            <a:ext cx="32400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5× → 1.2×</a:t>
            </a:r>
            <a:endParaRPr lang="en-US" sz="2600" dirty="0"/>
          </a:p>
        </p:txBody>
      </p:sp>
      <p:sp>
        <p:nvSpPr>
          <p:cNvPr id="13" name="Text 10"/>
          <p:cNvSpPr txBox="1"/>
          <p:nvPr/>
        </p:nvSpPr>
        <p:spPr>
          <a:xfrm>
            <a:off x="4383024" y="5715000"/>
            <a:ext cx="32400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SRA growth per year: 2009–12 vs 2022–23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8034528" y="4983480"/>
            <a:ext cx="34229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E800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7,000×</a:t>
            </a:r>
            <a:endParaRPr lang="en-US" sz="2600" dirty="0"/>
          </a:p>
        </p:txBody>
      </p:sp>
      <p:sp>
        <p:nvSpPr>
          <p:cNvPr id="15" name="Text 12"/>
          <p:cNvSpPr txBox="1"/>
          <p:nvPr/>
        </p:nvSpPr>
        <p:spPr>
          <a:xfrm>
            <a:off x="8034528" y="5715000"/>
            <a:ext cx="34229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spread of 2045 forecasts across exponential, linear, logistic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000D"/>
          </a:solidFill>
          <a:ln w="12700">
            <a:solidFill>
              <a:srgbClr val="E8000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E8000D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05 — TASK 3 · PLATFORMS AND THROUGHPUT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658368"/>
            <a:ext cx="107259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Instrument capacity doubles every 1.2 years; the archive sees a fraction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31520" y="1572768"/>
            <a:ext cx="1072591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356848" y="6236208"/>
            <a:ext cx="384048" cy="384048"/>
          </a:xfrm>
          <a:prstGeom prst="ellipse">
            <a:avLst/>
          </a:prstGeom>
          <a:ln w="19050">
            <a:solidFill>
              <a:srgbClr val="E8000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63550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444444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BIOSTORAGEAPOC · AITU · PROJECT 09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10424160" y="63550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06</a:t>
            </a:r>
            <a:endParaRPr lang="en-US" sz="900" dirty="0"/>
          </a:p>
        </p:txBody>
      </p:sp>
      <p:pic>
        <p:nvPicPr>
          <p:cNvPr id="9" name="Image 0" descr="C:\Users\ravse\OneDrive\Рабочий стол\BioStorageApoc\results\figures\fig_a2_instruments_platform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1737360"/>
            <a:ext cx="9418320" cy="3424844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731520" y="5074920"/>
            <a:ext cx="32400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24,000×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5806440"/>
            <a:ext cx="32400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Illumina output per instrument-day, 2006 → 2023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4383024" y="5074920"/>
            <a:ext cx="32400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90–96%</a:t>
            </a:r>
            <a:endParaRPr lang="en-US" sz="2600" dirty="0"/>
          </a:p>
        </p:txBody>
      </p:sp>
      <p:sp>
        <p:nvSpPr>
          <p:cNvPr id="13" name="Text 10"/>
          <p:cNvSpPr txBox="1"/>
          <p:nvPr/>
        </p:nvSpPr>
        <p:spPr>
          <a:xfrm>
            <a:off x="4383024" y="5806440"/>
            <a:ext cx="32400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public runs are Illumina since 2016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8034528" y="5074920"/>
            <a:ext cx="34229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E800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5–12</a:t>
            </a:r>
            <a:endParaRPr lang="en-US" sz="2600" dirty="0"/>
          </a:p>
        </p:txBody>
      </p:sp>
      <p:sp>
        <p:nvSpPr>
          <p:cNvPr id="15" name="Text 12"/>
          <p:cNvSpPr txBox="1"/>
          <p:nvPr/>
        </p:nvSpPr>
        <p:spPr>
          <a:xfrm>
            <a:off x="8034528" y="5806440"/>
            <a:ext cx="34229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flagship instruments' yearly output = the whole SRA intake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000D"/>
          </a:solidFill>
          <a:ln w="12700">
            <a:solidFill>
              <a:srgbClr val="E8000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E8000D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06 — TASK 8 · HEADLINE PROJECTION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658368"/>
            <a:ext cx="107259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the curves cross depends on how we store — and on sequencing prices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31520" y="1572768"/>
            <a:ext cx="1072591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356848" y="6236208"/>
            <a:ext cx="384048" cy="384048"/>
          </a:xfrm>
          <a:prstGeom prst="ellipse">
            <a:avLst/>
          </a:prstGeom>
          <a:ln w="19050">
            <a:solidFill>
              <a:srgbClr val="E8000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63550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444444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BIOSTORAGEAPOC · AITU · PROJECT 09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10424160" y="63550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07</a:t>
            </a:r>
            <a:endParaRPr lang="en-US" sz="900" dirty="0"/>
          </a:p>
        </p:txBody>
      </p:sp>
      <p:pic>
        <p:nvPicPr>
          <p:cNvPr id="9" name="Image 0" descr="C:\Users\ravse\OneDrive\Рабочий стол\BioStorageApoc\results\figures\fig_a4_cross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737360"/>
            <a:ext cx="10424160" cy="3625795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731520" y="5440680"/>
            <a:ext cx="23271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E8000D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SRA TODAY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5669280"/>
            <a:ext cx="23271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00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</a:t>
            </a:r>
            <a:endParaRPr lang="en-US" sz="2600" dirty="0"/>
          </a:p>
        </p:txBody>
      </p:sp>
      <p:sp>
        <p:nvSpPr>
          <p:cNvPr id="12" name="Text 9"/>
          <p:cNvSpPr txBox="1"/>
          <p:nvPr/>
        </p:nvSpPr>
        <p:spPr>
          <a:xfrm>
            <a:off x="3470148" y="5440680"/>
            <a:ext cx="23271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444444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+ SPRING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3470148" y="5669280"/>
            <a:ext cx="23271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6208776" y="5440680"/>
            <a:ext cx="23271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444444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+ 2-LEVEL QUALITIES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6208776" y="5669280"/>
            <a:ext cx="23271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2029</a:t>
            </a:r>
            <a:endParaRPr lang="en-US" sz="2600" dirty="0"/>
          </a:p>
        </p:txBody>
      </p:sp>
      <p:sp>
        <p:nvSpPr>
          <p:cNvPr id="16" name="Text 13"/>
          <p:cNvSpPr txBox="1"/>
          <p:nvPr/>
        </p:nvSpPr>
        <p:spPr>
          <a:xfrm>
            <a:off x="8947404" y="5440680"/>
            <a:ext cx="23271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444444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+ TIERING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8947404" y="5669280"/>
            <a:ext cx="23271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2035</a:t>
            </a:r>
            <a:endParaRPr lang="en-US" sz="2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000D"/>
          </a:solidFill>
          <a:ln w="12700">
            <a:solidFill>
              <a:srgbClr val="E8000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E8000D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07 — DATABASES · WHAT THE ARCHIVES DON'T SAY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658368"/>
            <a:ext cx="107259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archives store less than they appear to — silently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31520" y="1572768"/>
            <a:ext cx="1072591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356848" y="6236208"/>
            <a:ext cx="384048" cy="384048"/>
          </a:xfrm>
          <a:prstGeom prst="ellipse">
            <a:avLst/>
          </a:prstGeom>
          <a:ln w="19050">
            <a:solidFill>
              <a:srgbClr val="E8000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63550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444444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BIOSTORAGEAPOC · AITU · PROJECT 09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10424160" y="63550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31520" y="1783080"/>
            <a:ext cx="5111496" cy="1920240"/>
          </a:xfrm>
          <a:prstGeom prst="rect">
            <a:avLst/>
          </a:prstGeom>
          <a:solidFill>
            <a:srgbClr val="F4F4F4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60120" y="19659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E800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600" dirty="0"/>
          </a:p>
        </p:txBody>
      </p:sp>
      <p:sp>
        <p:nvSpPr>
          <p:cNvPr id="11" name="Text 9"/>
          <p:cNvSpPr txBox="1"/>
          <p:nvPr/>
        </p:nvSpPr>
        <p:spPr>
          <a:xfrm>
            <a:off x="1965960" y="2011680"/>
            <a:ext cx="36484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SRA Lite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965960" y="2468880"/>
            <a:ext cx="364845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ENA's FASTQ for SRR25629153 has every quality = Q30. Real values survive only in NCBI's SRA Normalized file.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08776" y="1783080"/>
            <a:ext cx="5111496" cy="1920240"/>
          </a:xfrm>
          <a:prstGeom prst="rect">
            <a:avLst/>
          </a:prstGeom>
          <a:solidFill>
            <a:srgbClr val="F4F4F4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37376" y="19659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E800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600" dirty="0"/>
          </a:p>
        </p:txBody>
      </p:sp>
      <p:sp>
        <p:nvSpPr>
          <p:cNvPr id="15" name="Text 13"/>
          <p:cNvSpPr txBox="1"/>
          <p:nvPr/>
        </p:nvSpPr>
        <p:spPr>
          <a:xfrm>
            <a:off x="7443216" y="2011680"/>
            <a:ext cx="36484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Wrong instrument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7443216" y="2468880"/>
            <a:ext cx="364845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Metadata says HiSeq 4000; flow-cell ID HWFV2DRXY and 4-level qualities say NovaSeq.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31520" y="3931920"/>
            <a:ext cx="5111496" cy="1920240"/>
          </a:xfrm>
          <a:prstGeom prst="rect">
            <a:avLst/>
          </a:prstGeom>
          <a:solidFill>
            <a:srgbClr val="F4F4F4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60120" y="411480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E800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600" dirty="0"/>
          </a:p>
        </p:txBody>
      </p:sp>
      <p:sp>
        <p:nvSpPr>
          <p:cNvPr id="19" name="Text 17"/>
          <p:cNvSpPr txBox="1"/>
          <p:nvPr/>
        </p:nvSpPr>
        <p:spPr>
          <a:xfrm>
            <a:off x="1965960" y="4160520"/>
            <a:ext cx="36484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Silent truncation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1965960" y="4617720"/>
            <a:ext cx="364845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ENA bulk request returned 383k of 608k runs with no error. Fixed: per-year chunks checked against /count.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208776" y="3931920"/>
            <a:ext cx="5111496" cy="1920240"/>
          </a:xfrm>
          <a:prstGeom prst="rect">
            <a:avLst/>
          </a:prstGeom>
          <a:solidFill>
            <a:srgbClr val="F4F4F4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37376" y="411480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E800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600" dirty="0"/>
          </a:p>
        </p:txBody>
      </p:sp>
      <p:sp>
        <p:nvSpPr>
          <p:cNvPr id="23" name="Text 21"/>
          <p:cNvSpPr txBox="1"/>
          <p:nvPr/>
        </p:nvSpPr>
        <p:spPr>
          <a:xfrm>
            <a:off x="7443216" y="4160520"/>
            <a:ext cx="36484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Undocumented filtering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7443216" y="4617720"/>
            <a:ext cx="364845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MinION run: no read &lt; 5 kb (pre-filtered); 2.8% of bases carry an impossible Q90.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000D"/>
          </a:solidFill>
          <a:ln w="12700">
            <a:solidFill>
              <a:srgbClr val="E8000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E8000D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08 — TASK 4/5 · COMPRESSION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658368"/>
            <a:ext cx="107259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FASTQ-aware compressor beats gzip 5× on short reads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31520" y="1572768"/>
            <a:ext cx="1072591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356848" y="6236208"/>
            <a:ext cx="384048" cy="384048"/>
          </a:xfrm>
          <a:prstGeom prst="ellipse">
            <a:avLst/>
          </a:prstGeom>
          <a:ln w="19050">
            <a:solidFill>
              <a:srgbClr val="E8000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63550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444444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BIOSTORAGEAPOC · AITU · PROJECT 09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10424160" y="63550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09</a:t>
            </a:r>
            <a:endParaRPr lang="en-US" sz="9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731520" y="1737360"/>
          <a:ext cx="7074408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8217408" y="1737360"/>
            <a:ext cx="32400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rgbClr val="E800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25.7×</a:t>
            </a:r>
            <a:endParaRPr lang="en-US" sz="4000" dirty="0"/>
          </a:p>
        </p:txBody>
      </p:sp>
      <p:sp>
        <p:nvSpPr>
          <p:cNvPr id="11" name="Text 8"/>
          <p:cNvSpPr txBox="1"/>
          <p:nvPr/>
        </p:nvSpPr>
        <p:spPr>
          <a:xfrm>
            <a:off x="8217408" y="2468880"/>
            <a:ext cx="32400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 on Illumina FASTQ (0.80 bits/base); gzip 5.0×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8217408" y="3246120"/>
            <a:ext cx="32400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34% / 78%</a:t>
            </a:r>
            <a:endParaRPr lang="en-US" sz="3200" dirty="0"/>
          </a:p>
        </p:txBody>
      </p:sp>
      <p:sp>
        <p:nvSpPr>
          <p:cNvPr id="13" name="Text 10"/>
          <p:cNvSpPr txBox="1"/>
          <p:nvPr/>
        </p:nvSpPr>
        <p:spPr>
          <a:xfrm>
            <a:off x="8217408" y="3977640"/>
            <a:ext cx="32400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compressed bytes are qualities (Illumina / Nanopore)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8217408" y="4754880"/>
            <a:ext cx="32400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3.2×</a:t>
            </a:r>
            <a:endParaRPr lang="en-US" sz="3200" dirty="0"/>
          </a:p>
        </p:txBody>
      </p:sp>
      <p:sp>
        <p:nvSpPr>
          <p:cNvPr id="15" name="Text 12"/>
          <p:cNvSpPr txBox="1"/>
          <p:nvPr/>
        </p:nvSpPr>
        <p:spPr>
          <a:xfrm>
            <a:off x="8217408" y="5486400"/>
            <a:ext cx="32400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on Nanopore: ~40 quality levels barely compress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000D"/>
          </a:solidFill>
          <a:ln w="12700">
            <a:solidFill>
              <a:srgbClr val="E8000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E8000D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09 — TASK 4 · NGS · QUALITY BINNING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658368"/>
            <a:ext cx="107259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Throwing qualities away barely changes SNP calls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31520" y="1572768"/>
            <a:ext cx="1072591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356848" y="6236208"/>
            <a:ext cx="384048" cy="384048"/>
          </a:xfrm>
          <a:prstGeom prst="ellipse">
            <a:avLst/>
          </a:prstGeom>
          <a:ln w="19050">
            <a:solidFill>
              <a:srgbClr val="E8000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63550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444444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BIOSTORAGEAPOC · AITU · PROJECT 09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10424160" y="63550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10</a:t>
            </a:r>
            <a:endParaRPr lang="en-US" sz="900" dirty="0"/>
          </a:p>
        </p:txBody>
      </p:sp>
      <p:pic>
        <p:nvPicPr>
          <p:cNvPr id="9" name="Image 0" descr="C:\Users\ravse\OneDrive\Рабочий стол\BioStorageApoc\results\figures\fig_b3_binning_co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737360"/>
            <a:ext cx="10085832" cy="3208983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731520" y="5074920"/>
            <a:ext cx="32400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E800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ΔF1 ≤ 0.001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5806440"/>
            <a:ext cx="32400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SNP F1 at ≥15× for every binning scheme, including no qualities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4383024" y="5074920"/>
            <a:ext cx="32400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25,952 SNPs</a:t>
            </a:r>
            <a:endParaRPr lang="en-US" sz="2600" dirty="0"/>
          </a:p>
        </p:txBody>
      </p:sp>
      <p:sp>
        <p:nvSpPr>
          <p:cNvPr id="13" name="Text 10"/>
          <p:cNvSpPr txBox="1"/>
          <p:nvPr/>
        </p:nvSpPr>
        <p:spPr>
          <a:xfrm>
            <a:off x="4383024" y="5806440"/>
            <a:ext cx="32400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truth set from two finished genomes (K-12 vs REL606), not from reads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8034528" y="5074920"/>
            <a:ext cx="34229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2.7× smaller</a:t>
            </a:r>
            <a:endParaRPr lang="en-US" sz="2600" dirty="0"/>
          </a:p>
        </p:txBody>
      </p:sp>
      <p:sp>
        <p:nvSpPr>
          <p:cNvPr id="15" name="Text 12"/>
          <p:cNvSpPr txBox="1"/>
          <p:nvPr/>
        </p:nvSpPr>
        <p:spPr>
          <a:xfrm>
            <a:off x="8034528" y="5806440"/>
            <a:ext cx="34229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Nanopore archive with 4-level qualities, same SNP F1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000D"/>
          </a:solidFill>
          <a:ln w="12700">
            <a:solidFill>
              <a:srgbClr val="E8000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E8000D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10 — TASK 5 · TGS · LONG READS AND RAW SIGNAL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658368"/>
            <a:ext cx="107259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reads fail differently; their raw signal is worth re-reading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31520" y="1572768"/>
            <a:ext cx="1072591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356848" y="6236208"/>
            <a:ext cx="384048" cy="384048"/>
          </a:xfrm>
          <a:prstGeom prst="ellipse">
            <a:avLst/>
          </a:prstGeom>
          <a:ln w="19050">
            <a:solidFill>
              <a:srgbClr val="E8000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63550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444444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BIOSTORAGEAPOC · AITU · PROJECT 09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10424160" y="63550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11</a:t>
            </a:r>
            <a:endParaRPr lang="en-US" sz="9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783080"/>
          <a:ext cx="6161532" cy="914400"/>
        </p:xfrm>
        <a:graphic>
          <a:graphicData uri="http://schemas.openxmlformats.org/drawingml/2006/table">
            <a:tbl>
              <a:tblPr/>
              <a:tblGrid>
                <a:gridCol w="2834305"/>
                <a:gridCol w="1663614"/>
                <a:gridCol w="1663614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SAME K-12 SAMPLE</a:t>
                      </a:r>
                      <a:endParaRPr lang="en-US" sz="90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ILLUMINA</a:t>
                      </a:r>
                      <a:endParaRPr lang="en-US" sz="90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44444"/>
                          </a:solidFill>
                          <a:latin typeface="Space Mono" pitchFamily="34" charset="0"/>
                          <a:ea typeface="Space Mono" pitchFamily="34" charset="-122"/>
                          <a:cs typeface="Space Mono" pitchFamily="34" charset="-120"/>
                        </a:rPr>
                        <a:t>NANOPORE</a:t>
                      </a:r>
                      <a:endParaRPr lang="en-US" sz="90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Identity to reference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99.64%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96.97%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Mismatches / 100 bases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Indels as share of errors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SNP F1 vs truth (full depth)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0.9906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0.9905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SNP recall / precision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99.04% / 99.08%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99.60% / 98.52%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4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Indel F1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7395972" y="1737360"/>
            <a:ext cx="40614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12–15×</a:t>
            </a:r>
            <a:endParaRPr lang="en-US" sz="3400" dirty="0"/>
          </a:p>
        </p:txBody>
      </p:sp>
      <p:sp>
        <p:nvSpPr>
          <p:cNvPr id="11" name="Text 8"/>
          <p:cNvSpPr txBox="1"/>
          <p:nvPr/>
        </p:nvSpPr>
        <p:spPr>
          <a:xfrm>
            <a:off x="7395972" y="2468880"/>
            <a:ext cx="40614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signal (POD5) vs the reads, per base — already at its compression limit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7395972" y="3246120"/>
            <a:ext cx="40614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rgbClr val="E800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−58%</a:t>
            </a:r>
            <a:endParaRPr lang="en-US" sz="4000" dirty="0"/>
          </a:p>
        </p:txBody>
      </p:sp>
      <p:sp>
        <p:nvSpPr>
          <p:cNvPr id="13" name="Text 10"/>
          <p:cNvSpPr txBox="1"/>
          <p:nvPr/>
        </p:nvSpPr>
        <p:spPr>
          <a:xfrm>
            <a:off x="7395972" y="3977640"/>
            <a:ext cx="40614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errors when the same signal is re-basecalled with a better model (hac → sup)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7395972" y="4754880"/>
            <a:ext cx="40614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5.4×</a:t>
            </a:r>
            <a:endParaRPr lang="en-US" sz="3400" dirty="0"/>
          </a:p>
        </p:txBody>
      </p:sp>
      <p:sp>
        <p:nvSpPr>
          <p:cNvPr id="15" name="Text 12"/>
          <p:cNvSpPr txBox="1"/>
          <p:nvPr/>
        </p:nvSpPr>
        <p:spPr>
          <a:xfrm>
            <a:off x="7395972" y="5486400"/>
            <a:ext cx="40614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GPU time for sup (308 s vs 57 s per 20,000 reads)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000D"/>
          </a:solidFill>
          <a:ln w="12700">
            <a:solidFill>
              <a:srgbClr val="E8000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E8000D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11 — TASK 6 · ALIGNMENT AS AN INDEX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658368"/>
            <a:ext cx="107259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smallest format is also the fastest to search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31520" y="1572768"/>
            <a:ext cx="1072591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356848" y="6236208"/>
            <a:ext cx="384048" cy="384048"/>
          </a:xfrm>
          <a:prstGeom prst="ellipse">
            <a:avLst/>
          </a:prstGeom>
          <a:ln w="19050">
            <a:solidFill>
              <a:srgbClr val="E8000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63550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444444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BIOSTORAGEAPOC · AITU · PROJECT 09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10424160" y="63550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12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1783080"/>
            <a:ext cx="7074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to find all reads of one gene (lacZ), log scale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0" y="2395728"/>
            <a:ext cx="0" cy="356616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834640" y="212140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024842" y="2395728"/>
            <a:ext cx="0" cy="356616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659082" y="212140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849285" y="2395728"/>
            <a:ext cx="0" cy="356616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483525" y="212140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 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673727" y="2395728"/>
            <a:ext cx="0" cy="356616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307967" y="212140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498169" y="2395728"/>
            <a:ext cx="0" cy="356616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132409" y="212140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s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731520" y="2468880"/>
            <a:ext cx="2377440" cy="3056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BAM (2.10 b/base)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00400" y="2468880"/>
            <a:ext cx="641541" cy="305671"/>
          </a:xfrm>
          <a:prstGeom prst="rect">
            <a:avLst/>
          </a:prstGeom>
          <a:solidFill>
            <a:srgbClr val="E8000D"/>
          </a:solidFill>
          <a:ln w="12700">
            <a:solidFill>
              <a:srgbClr val="E8000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915093" y="2468880"/>
            <a:ext cx="1188720" cy="3056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00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ms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731520" y="2978331"/>
            <a:ext cx="2377440" cy="3056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CRAM 3.1 (0.73)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00400" y="2978331"/>
            <a:ext cx="969619" cy="305671"/>
          </a:xfrm>
          <a:prstGeom prst="rect">
            <a:avLst/>
          </a:prstGeom>
          <a:solidFill>
            <a:srgbClr val="E8000D"/>
          </a:solidFill>
          <a:ln w="12700">
            <a:solidFill>
              <a:srgbClr val="E8000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243171" y="2978331"/>
            <a:ext cx="1188720" cy="3056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00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ms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731520" y="3487783"/>
            <a:ext cx="2377440" cy="3056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BLAST db (7.28)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200400" y="3487783"/>
            <a:ext cx="1789255" cy="305671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062807" y="3487783"/>
            <a:ext cx="1188720" cy="3056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0.15 s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731520" y="3997234"/>
            <a:ext cx="2377440" cy="3056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CRAM archive (0.70)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200400" y="3997234"/>
            <a:ext cx="2087058" cy="305671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360610" y="3997234"/>
            <a:ext cx="1188720" cy="3056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0.34 s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731520" y="4506686"/>
            <a:ext cx="2377440" cy="3056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FASTQ.zst (2.82)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200400" y="4506686"/>
            <a:ext cx="3063630" cy="305671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337182" y="4506686"/>
            <a:ext cx="1188720" cy="3056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5.2 s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731520" y="5016137"/>
            <a:ext cx="2377440" cy="3056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FASTQ.gz (4.13)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3200400" y="5016137"/>
            <a:ext cx="3068418" cy="305671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341970" y="5016137"/>
            <a:ext cx="1188720" cy="3056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5.3 s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731520" y="5525589"/>
            <a:ext cx="2377440" cy="3056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 (0.80)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3200400" y="5525589"/>
            <a:ext cx="3452369" cy="305671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725921" y="5525589"/>
            <a:ext cx="1188720" cy="3056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15.4 s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8217408" y="1737360"/>
            <a:ext cx="32400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rgbClr val="E800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360×</a:t>
            </a:r>
            <a:endParaRPr lang="en-US" sz="4000" dirty="0"/>
          </a:p>
        </p:txBody>
      </p:sp>
      <p:sp>
        <p:nvSpPr>
          <p:cNvPr id="42" name="Text 40"/>
          <p:cNvSpPr txBox="1"/>
          <p:nvPr/>
        </p:nvSpPr>
        <p:spPr>
          <a:xfrm>
            <a:off x="8217408" y="2468880"/>
            <a:ext cx="32400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faster: CRAM region query vs scanning compressed FASTQ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8217408" y="3246120"/>
            <a:ext cx="32400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ms</a:t>
            </a:r>
            <a:endParaRPr lang="en-US" sz="3400" dirty="0"/>
          </a:p>
        </p:txBody>
      </p:sp>
      <p:sp>
        <p:nvSpPr>
          <p:cNvPr id="44" name="Text 42"/>
          <p:cNvSpPr txBox="1"/>
          <p:nvPr/>
        </p:nvSpPr>
        <p:spPr>
          <a:xfrm>
            <a:off x="8217408" y="3977640"/>
            <a:ext cx="32400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1 kb region from CRAM (5 ms from BAM)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8217408" y="4754880"/>
            <a:ext cx="32400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 1.00</a:t>
            </a:r>
            <a:endParaRPr lang="en-US" sz="2800" dirty="0"/>
          </a:p>
        </p:txBody>
      </p:sp>
      <p:sp>
        <p:nvSpPr>
          <p:cNvPr id="46" name="Text 44"/>
          <p:cNvSpPr txBox="1"/>
          <p:nvPr/>
        </p:nvSpPr>
        <p:spPr>
          <a:xfrm>
            <a:off x="8217408" y="5486400"/>
            <a:ext cx="32400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alignment answer is exact; k-mer scan 0.98, BLAST 0.97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000D"/>
          </a:solidFill>
          <a:ln w="12700">
            <a:solidFill>
              <a:srgbClr val="E8000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E8000D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12 — TASK 7 · TIERING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658368"/>
            <a:ext cx="107259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Cheap instant storage beats clever prediction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31520" y="1572768"/>
            <a:ext cx="1072591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356848" y="6236208"/>
            <a:ext cx="384048" cy="384048"/>
          </a:xfrm>
          <a:prstGeom prst="ellipse">
            <a:avLst/>
          </a:prstGeom>
          <a:ln w="19050">
            <a:solidFill>
              <a:srgbClr val="E8000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63550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444444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BIOSTORAGEAPOC · AITU · PROJECT 09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10424160" y="63550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13</a:t>
            </a:r>
            <a:endParaRPr lang="en-US" sz="9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731520" y="1737360"/>
          <a:ext cx="6161532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7395972" y="1828800"/>
            <a:ext cx="40614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E8000D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DELAYED REUSE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7395972" y="2103120"/>
            <a:ext cx="40614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73% · 0% · 17% · 0% · 100%  (same order)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7395972" y="3200400"/>
            <a:ext cx="40614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444444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REUSE LABEL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7395972" y="3474720"/>
            <a:ext cx="40614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≥2 papers within 4 years — 11,497 Europe PMC queries, 5,748 studies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7395972" y="4572000"/>
            <a:ext cx="40614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444444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MODEL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7395972" y="4846320"/>
            <a:ext cx="40614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ROC-AUC 0.75 on held-out years (random 0.49); trained ≤2017, tested 2018–21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000D"/>
          </a:solidFill>
          <a:ln w="12700">
            <a:solidFill>
              <a:srgbClr val="E8000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E8000D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13 — ENGINEERING AND REPRODUCIBILITY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658368"/>
            <a:ext cx="107259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command from public archives to every number in the report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31520" y="1572768"/>
            <a:ext cx="1072591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356848" y="6236208"/>
            <a:ext cx="384048" cy="384048"/>
          </a:xfrm>
          <a:prstGeom prst="ellipse">
            <a:avLst/>
          </a:prstGeom>
          <a:ln w="19050">
            <a:solidFill>
              <a:srgbClr val="E8000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63550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444444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BIOSTORAGEAPOC · AITU · PROJECT 09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10424160" y="63550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31520" y="1828800"/>
            <a:ext cx="2189988" cy="1737360"/>
          </a:xfrm>
          <a:prstGeom prst="rect">
            <a:avLst/>
          </a:prstGeom>
          <a:solidFill>
            <a:srgbClr val="F4F4F4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1920240"/>
            <a:ext cx="18242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2651760"/>
            <a:ext cx="18242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sources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2999232"/>
            <a:ext cx="18242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MD5 + provenance per file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2921508" y="242316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800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3470148" y="1828800"/>
            <a:ext cx="2189988" cy="1737360"/>
          </a:xfrm>
          <a:prstGeom prst="rect">
            <a:avLst/>
          </a:prstGeom>
          <a:solidFill>
            <a:srgbClr val="F4F4F4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653028" y="1920240"/>
            <a:ext cx="18242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00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~180</a:t>
            </a:r>
            <a:endParaRPr lang="en-US" sz="4000" dirty="0"/>
          </a:p>
        </p:txBody>
      </p:sp>
      <p:sp>
        <p:nvSpPr>
          <p:cNvPr id="16" name="Text 14"/>
          <p:cNvSpPr txBox="1"/>
          <p:nvPr/>
        </p:nvSpPr>
        <p:spPr>
          <a:xfrm>
            <a:off x="3653028" y="2651760"/>
            <a:ext cx="18242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Snakemake jobs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3653028" y="2999232"/>
            <a:ext cx="18242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benchmark: time + memory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660136" y="242316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800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6208776" y="1828800"/>
            <a:ext cx="2189988" cy="1737360"/>
          </a:xfrm>
          <a:prstGeom prst="rect">
            <a:avLst/>
          </a:prstGeom>
          <a:solidFill>
            <a:srgbClr val="F4F4F4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391656" y="1920240"/>
            <a:ext cx="18242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4000" dirty="0"/>
          </a:p>
        </p:txBody>
      </p:sp>
      <p:sp>
        <p:nvSpPr>
          <p:cNvPr id="21" name="Text 19"/>
          <p:cNvSpPr txBox="1"/>
          <p:nvPr/>
        </p:nvSpPr>
        <p:spPr>
          <a:xfrm>
            <a:off x="6391656" y="2651760"/>
            <a:ext cx="18242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figures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391656" y="2999232"/>
            <a:ext cx="18242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+ 40 result tables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8398764" y="242316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800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8947404" y="1828800"/>
            <a:ext cx="2189988" cy="1737360"/>
          </a:xfrm>
          <a:prstGeom prst="rect">
            <a:avLst/>
          </a:prstGeom>
          <a:solidFill>
            <a:srgbClr val="F4F4F4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130284" y="1920240"/>
            <a:ext cx="18242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4000" dirty="0"/>
          </a:p>
        </p:txBody>
      </p:sp>
      <p:sp>
        <p:nvSpPr>
          <p:cNvPr id="26" name="Text 24"/>
          <p:cNvSpPr txBox="1"/>
          <p:nvPr/>
        </p:nvSpPr>
        <p:spPr>
          <a:xfrm>
            <a:off x="9130284" y="2651760"/>
            <a:ext cx="18242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9130284" y="2999232"/>
            <a:ext cx="18242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number traceable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731520" y="4023360"/>
            <a:ext cx="25100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000D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make test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3470148" y="4023360"/>
            <a:ext cx="79872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109 steps in 3.5 min on ~16 MB of real data slices — no network, no GPU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731520" y="4709160"/>
            <a:ext cx="25100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000D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make repro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3470148" y="4709160"/>
            <a:ext cx="79872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run from raw downloads; pinned conda environment + lock file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731520" y="5394960"/>
            <a:ext cx="25100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000D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at scale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3470148" y="5394960"/>
            <a:ext cx="79872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607k-run metadata in verified yearly chunks → Parquet; resumable API cache; reservoir sampling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8000D"/>
          </a:solidFill>
          <a:ln w="12700">
            <a:solidFill>
              <a:srgbClr val="E8000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E8000D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14 — CONCLUSION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658368"/>
            <a:ext cx="107259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crossover is close; the levers buy about a decade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31520" y="1572768"/>
            <a:ext cx="1072591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356848" y="6236208"/>
            <a:ext cx="384048" cy="384048"/>
          </a:xfrm>
          <a:prstGeom prst="ellipse">
            <a:avLst/>
          </a:prstGeom>
          <a:ln w="19050">
            <a:solidFill>
              <a:srgbClr val="E8000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63550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444444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BIOSTORAGEAPOC · AITU · PROJECT 09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10424160" y="63550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15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00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1783080"/>
            <a:ext cx="56128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Archives hide losses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2148840"/>
            <a:ext cx="56128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SRA Lite qualities, wrong instrument, silent truncation — found only by checking.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2807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00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2807208"/>
            <a:ext cx="56128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bytes buy little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3172968"/>
            <a:ext cx="56128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Qualities: 34–78% of an archive, ΔF1 ≤ 0.001. Signal: 12–15× the reads.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38313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00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3831336"/>
            <a:ext cx="56128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can be fast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4197096"/>
            <a:ext cx="56128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CRAM: smallest and quickest to query. Spring: small, no random access.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48554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00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1234440" y="4855464"/>
            <a:ext cx="56128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Cheap storage first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234440" y="5221224"/>
            <a:ext cx="56128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 archive −81.5%; prediction adds 2 points at 17% delays.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395972" y="1783080"/>
            <a:ext cx="4061460" cy="4114800"/>
          </a:xfrm>
          <a:prstGeom prst="rect">
            <a:avLst/>
          </a:prstGeom>
          <a:solidFill>
            <a:srgbClr val="F4F4F4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624572" y="1965960"/>
            <a:ext cx="36042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E8000D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LIMITATIONS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7624572" y="2286000"/>
            <a:ext cx="36042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organism, one run per platform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Haploid SNPs only — no diploid or somatic test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Reuse proxied by citations (no download logs)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 prices; NHGRI series ends 2022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capacities are maxima, not yields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Storage Apocalypse</dc:title>
  <dc:subject>PptxGenJS Presentation</dc:subject>
  <dc:creator>PptxGenJS</dc:creator>
  <cp:lastModifiedBy>PptxGenJS</cp:lastModifiedBy>
  <cp:revision>1</cp:revision>
  <dcterms:created xsi:type="dcterms:W3CDTF">2026-10-01T12:55:55Z</dcterms:created>
  <dcterms:modified xsi:type="dcterms:W3CDTF">2026-10-01T12:55:55Z</dcterms:modified>
</cp:coreProperties>
</file>